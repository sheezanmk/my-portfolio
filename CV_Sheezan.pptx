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6"/>
  </p:notesMasterIdLst>
  <p:sldIdLst>
    <p:sldId id="264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314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52D01F-965B-0AC6-E33D-33AABCA6F890}" name="Natalie Waddell" initials="NW" userId="S::Natalie.Waddell@nology.io::f842bc3e-82aa-4444-b342-2639fa010b7b" providerId="AD"/>
  <p188:author id="{AA161DE8-3856-0CAD-F69C-53063E5EFCD7}" name="Gemma Toogood" initials="GT" userId="S::Gemma.Toogood@nology.io::81a5ee33-8e56-4057-b1dc-42b87437b1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B5D"/>
    <a:srgbClr val="8795AE"/>
    <a:srgbClr val="D7143C"/>
    <a:srgbClr val="F64488"/>
    <a:srgbClr val="EDE9F2"/>
    <a:srgbClr val="351762"/>
    <a:srgbClr val="4F2C78"/>
    <a:srgbClr val="4B2B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DBDBB-6D63-4DE9-BFCF-C7779DC2611C}" v="142" dt="2024-08-15T06:09:38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9" autoAdjust="0"/>
    <p:restoredTop sz="94660"/>
  </p:normalViewPr>
  <p:slideViewPr>
    <p:cSldViewPr snapToGrid="0">
      <p:cViewPr>
        <p:scale>
          <a:sx n="80" d="100"/>
          <a:sy n="80" d="100"/>
        </p:scale>
        <p:origin x="1123" y="48"/>
      </p:cViewPr>
      <p:guideLst>
        <p:guide pos="2160"/>
        <p:guide orient="horz" pos="31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DDCB6-0903-B544-AB87-A44A1B3A549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017D8-AD5C-9748-ACDB-4CCD0E655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926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8075-CC2A-7B76-90FE-9623487A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33B8D-F69A-6EC5-682A-CCD56AFAC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096A0-50AE-7B13-5A2E-8500DB006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96D37-9707-CD0E-69D9-FDDB5F7A4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017D8-AD5C-9748-ACDB-4CCD0E65572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028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005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5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E4DB754-0887-3E70-380E-B8E226C263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0050" y="1114425"/>
            <a:ext cx="2311400" cy="2311400"/>
          </a:xfr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533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17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21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21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19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92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34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82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98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36606-E3D5-0045-8236-DDB96D88EB4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1A6A7-19F1-044B-8114-26974B86E0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29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hyperlink" Target="https://sheezanmk.github.io/My-Portfolio/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sheezanmk" TargetMode="External"/><Relationship Id="rId11" Type="http://schemas.openxmlformats.org/officeDocument/2006/relationships/image" Target="../media/image3.jpeg"/><Relationship Id="rId5" Type="http://schemas.microsoft.com/office/2007/relationships/hdphoto" Target="../media/hdphoto1.wdp"/><Relationship Id="rId10" Type="http://schemas.openxmlformats.org/officeDocument/2006/relationships/hyperlink" Target="https://github.com/sheezanmk/Google-Books-API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github.com/sheezanmk/Morse-Code-Transl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02468-550F-E126-F437-D15980E7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3717294-E808-4F16-B7EA-F0B6093B793C}"/>
              </a:ext>
            </a:extLst>
          </p:cNvPr>
          <p:cNvSpPr/>
          <p:nvPr/>
        </p:nvSpPr>
        <p:spPr>
          <a:xfrm>
            <a:off x="-2" y="6666767"/>
            <a:ext cx="4068210" cy="3239232"/>
          </a:xfrm>
          <a:prstGeom prst="rect">
            <a:avLst/>
          </a:prstGeom>
          <a:solidFill>
            <a:srgbClr val="D714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AB3664-657E-50F9-0F2A-BB65856FA535}"/>
              </a:ext>
            </a:extLst>
          </p:cNvPr>
          <p:cNvSpPr>
            <a:spLocks/>
          </p:cNvSpPr>
          <p:nvPr/>
        </p:nvSpPr>
        <p:spPr>
          <a:xfrm>
            <a:off x="163649" y="4226613"/>
            <a:ext cx="6503063" cy="4122331"/>
          </a:xfrm>
          <a:prstGeom prst="rect">
            <a:avLst/>
          </a:prstGeom>
          <a:solidFill>
            <a:srgbClr val="879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DFC7800-8D4F-D2FA-5EA8-150EED02F4FA}"/>
              </a:ext>
            </a:extLst>
          </p:cNvPr>
          <p:cNvSpPr>
            <a:spLocks/>
          </p:cNvSpPr>
          <p:nvPr/>
        </p:nvSpPr>
        <p:spPr>
          <a:xfrm>
            <a:off x="4068208" y="4226613"/>
            <a:ext cx="2789792" cy="4122331"/>
          </a:xfrm>
          <a:prstGeom prst="rect">
            <a:avLst/>
          </a:prstGeom>
          <a:solidFill>
            <a:srgbClr val="0F2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B387723-6B8A-ABBD-8762-52FEBF163D39}"/>
              </a:ext>
            </a:extLst>
          </p:cNvPr>
          <p:cNvSpPr txBox="1"/>
          <p:nvPr/>
        </p:nvSpPr>
        <p:spPr>
          <a:xfrm>
            <a:off x="124545" y="8403849"/>
            <a:ext cx="2179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MarkPro-Bold" panose="020B0804020101010102" pitchFamily="34" charset="0"/>
                <a:ea typeface="Calibri" panose="020F0502020204030204" pitchFamily="34" charset="0"/>
              </a:rPr>
              <a:t>PROJECTS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F14127-BC9D-0B37-5F88-5B030D4A68DC}"/>
              </a:ext>
            </a:extLst>
          </p:cNvPr>
          <p:cNvSpPr txBox="1"/>
          <p:nvPr/>
        </p:nvSpPr>
        <p:spPr>
          <a:xfrm>
            <a:off x="4175024" y="8478920"/>
            <a:ext cx="34842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9"/>
              </a:spcAft>
            </a:pPr>
            <a:r>
              <a:rPr lang="en-GB" sz="1200" b="1" dirty="0">
                <a:solidFill>
                  <a:srgbClr val="0F2B5D"/>
                </a:solidFill>
                <a:latin typeface="MarkPro-Bold" panose="020B0504020101010102" pitchFamily="34" charset="77"/>
                <a:ea typeface="Times New Roman" panose="02020603050405020304" pitchFamily="18" charset="0"/>
              </a:rPr>
              <a:t>KEY TECH SKILLS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DC4666-6008-D97C-06C4-A82B6CD3498F}"/>
              </a:ext>
            </a:extLst>
          </p:cNvPr>
          <p:cNvSpPr txBox="1"/>
          <p:nvPr/>
        </p:nvSpPr>
        <p:spPr>
          <a:xfrm>
            <a:off x="174478" y="2314715"/>
            <a:ext cx="64922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latin typeface="MarkPro" panose="020B0504020101010102" pitchFamily="34" charset="0"/>
              </a:rPr>
              <a:t>I am an aspiring technical consultant with a background in digital performance monitoring and a strong interest in technology and problem-solving. I previously worked as a Digital Performance Specialist at Catchpoint, where I supported enterprise clients and developed strong analytical and communication skills. After a short career break, I returned with renewed focus and have been actively upskilling in modern web technologies and core backend concepts. I enjoy understanding how systems work end-to-end and finding practical solutions that improve user experience. Outside of work, I enjoy learning new technologies, building personal projects, and spending time with my family.</a:t>
            </a:r>
            <a:endParaRPr lang="en-AU" sz="1200" dirty="0">
              <a:effectLst/>
              <a:latin typeface="MarkPro" panose="020B0504020101010102" pitchFamily="34" charset="0"/>
              <a:ea typeface="Calibri" panose="020F0502020204030204" pitchFamily="34" charset="0"/>
              <a:cs typeface="Clear Sans Regular" panose="020B060402020202020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9A08D9-04AD-B6FB-AD77-FAA58329A074}"/>
              </a:ext>
            </a:extLst>
          </p:cNvPr>
          <p:cNvSpPr/>
          <p:nvPr/>
        </p:nvSpPr>
        <p:spPr>
          <a:xfrm>
            <a:off x="-217" y="1861522"/>
            <a:ext cx="1351345" cy="276526"/>
          </a:xfrm>
          <a:prstGeom prst="rect">
            <a:avLst/>
          </a:prstGeom>
          <a:solidFill>
            <a:srgbClr val="0F2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8E701-8C15-B7B2-89C7-46B38C73978C}"/>
              </a:ext>
            </a:extLst>
          </p:cNvPr>
          <p:cNvSpPr txBox="1"/>
          <p:nvPr/>
        </p:nvSpPr>
        <p:spPr>
          <a:xfrm>
            <a:off x="187115" y="1861741"/>
            <a:ext cx="11005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9"/>
              </a:spcAft>
            </a:pPr>
            <a:r>
              <a:rPr lang="en-GB" sz="1200" b="1" dirty="0">
                <a:solidFill>
                  <a:schemeClr val="bg1"/>
                </a:solidFill>
                <a:latin typeface="MarkPro-Bold" panose="020B0504020101010102" pitchFamily="34" charset="77"/>
                <a:ea typeface="Times New Roman" panose="02020603050405020304" pitchFamily="18" charset="0"/>
              </a:rPr>
              <a:t>ABOUT 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9DED9-9857-3435-BFAD-86FBD669A602}"/>
              </a:ext>
            </a:extLst>
          </p:cNvPr>
          <p:cNvSpPr txBox="1"/>
          <p:nvPr/>
        </p:nvSpPr>
        <p:spPr>
          <a:xfrm>
            <a:off x="1979904" y="1329823"/>
            <a:ext cx="22251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F2B5D"/>
                </a:solidFill>
                <a:latin typeface="MarkPro-Bold" panose="020B0504020101010102" pitchFamily="34" charset="77"/>
                <a:ea typeface="Times New Roman" panose="02020603050405020304" pitchFamily="18" charset="0"/>
              </a:rPr>
              <a:t>SHEEZAN	</a:t>
            </a:r>
          </a:p>
          <a:p>
            <a:r>
              <a:rPr lang="en-GB" sz="2000" b="1" dirty="0">
                <a:solidFill>
                  <a:srgbClr val="0F2B5D"/>
                </a:solidFill>
                <a:latin typeface="MarkPro-Bold" panose="020B0504020101010102" pitchFamily="34" charset="77"/>
                <a:ea typeface="Times New Roman" panose="02020603050405020304" pitchFamily="18" charset="0"/>
              </a:rPr>
              <a:t>MANZOOR</a:t>
            </a:r>
          </a:p>
        </p:txBody>
      </p:sp>
      <p:sp>
        <p:nvSpPr>
          <p:cNvPr id="16" name="Rectangle 15">
            <a:hlinkClick r:id="rId3"/>
            <a:extLst>
              <a:ext uri="{FF2B5EF4-FFF2-40B4-BE49-F238E27FC236}">
                <a16:creationId xmlns:a16="http://schemas.microsoft.com/office/drawing/2014/main" id="{EEF12C00-A070-3075-857B-64C27890064B}"/>
              </a:ext>
            </a:extLst>
          </p:cNvPr>
          <p:cNvSpPr/>
          <p:nvPr/>
        </p:nvSpPr>
        <p:spPr>
          <a:xfrm>
            <a:off x="4294094" y="1514266"/>
            <a:ext cx="1135941" cy="319942"/>
          </a:xfrm>
          <a:prstGeom prst="rect">
            <a:avLst/>
          </a:prstGeom>
          <a:solidFill>
            <a:srgbClr val="0F2B5D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E2BBC9-86CA-E3BC-AA3F-DD95E4F82D53}"/>
              </a:ext>
            </a:extLst>
          </p:cNvPr>
          <p:cNvSpPr txBox="1"/>
          <p:nvPr/>
        </p:nvSpPr>
        <p:spPr>
          <a:xfrm>
            <a:off x="4593010" y="1542359"/>
            <a:ext cx="7941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9"/>
              </a:spcAft>
            </a:pPr>
            <a:r>
              <a:rPr lang="en-GB" sz="1100" b="1" dirty="0">
                <a:solidFill>
                  <a:schemeClr val="bg1"/>
                </a:solidFill>
                <a:latin typeface="MarkPro-Bold" panose="020B0504020101010102" pitchFamily="34" charset="77"/>
                <a:ea typeface="Times New Roman" panose="02020603050405020304" pitchFamily="18" charset="0"/>
              </a:rPr>
              <a:t>Portfolio</a:t>
            </a:r>
          </a:p>
        </p:txBody>
      </p:sp>
      <p:pic>
        <p:nvPicPr>
          <p:cNvPr id="18" name="Picture 17" descr="A computer screen with a check mark and a person in the circle&#10;&#10;Description automatically generated">
            <a:extLst>
              <a:ext uri="{FF2B5EF4-FFF2-40B4-BE49-F238E27FC236}">
                <a16:creationId xmlns:a16="http://schemas.microsoft.com/office/drawing/2014/main" id="{D6CF049E-E7F3-2369-3ABF-3E5A68EA0E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31" y="1584099"/>
            <a:ext cx="194033" cy="194033"/>
          </a:xfrm>
          <a:prstGeom prst="rect">
            <a:avLst/>
          </a:prstGeom>
        </p:spPr>
      </p:pic>
      <p:sp>
        <p:nvSpPr>
          <p:cNvPr id="14" name="Rectangle 13">
            <a:hlinkClick r:id="rId6"/>
            <a:extLst>
              <a:ext uri="{FF2B5EF4-FFF2-40B4-BE49-F238E27FC236}">
                <a16:creationId xmlns:a16="http://schemas.microsoft.com/office/drawing/2014/main" id="{A8E3EE8D-0C5E-4424-F27C-D7C692FBB2BA}"/>
              </a:ext>
            </a:extLst>
          </p:cNvPr>
          <p:cNvSpPr/>
          <p:nvPr/>
        </p:nvSpPr>
        <p:spPr>
          <a:xfrm>
            <a:off x="5541844" y="1510438"/>
            <a:ext cx="1071360" cy="319942"/>
          </a:xfrm>
          <a:prstGeom prst="rect">
            <a:avLst/>
          </a:prstGeom>
          <a:solidFill>
            <a:srgbClr val="0F2B5D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1170A-9476-A9F3-7B83-1B07F13073C6}"/>
              </a:ext>
            </a:extLst>
          </p:cNvPr>
          <p:cNvSpPr txBox="1"/>
          <p:nvPr/>
        </p:nvSpPr>
        <p:spPr>
          <a:xfrm>
            <a:off x="5851148" y="1542840"/>
            <a:ext cx="673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9"/>
              </a:spcAft>
            </a:pPr>
            <a:r>
              <a:rPr lang="en-GB" sz="1100" b="1" dirty="0">
                <a:solidFill>
                  <a:schemeClr val="bg1"/>
                </a:solidFill>
                <a:latin typeface="MarkPro-Bold" panose="020B0504020101010102" pitchFamily="34" charset="77"/>
                <a:ea typeface="Times New Roman" panose="02020603050405020304" pitchFamily="18" charset="0"/>
              </a:rPr>
              <a:t>GitHub</a:t>
            </a:r>
          </a:p>
        </p:txBody>
      </p:sp>
      <p:pic>
        <p:nvPicPr>
          <p:cNvPr id="19" name="Picture 18" descr="A black cat in a circle&#10;&#10;Description automatically generated">
            <a:extLst>
              <a:ext uri="{FF2B5EF4-FFF2-40B4-BE49-F238E27FC236}">
                <a16:creationId xmlns:a16="http://schemas.microsoft.com/office/drawing/2014/main" id="{82B83EAD-07E8-7CED-E557-C60A36578BEF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4521" y="1554021"/>
            <a:ext cx="216130" cy="216130"/>
          </a:xfrm>
          <a:prstGeom prst="rect">
            <a:avLst/>
          </a:prstGeom>
          <a:noFill/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5ED84E3-35EC-6D98-76F3-971DF3D3B154}"/>
              </a:ext>
            </a:extLst>
          </p:cNvPr>
          <p:cNvSpPr txBox="1">
            <a:spLocks/>
          </p:cNvSpPr>
          <p:nvPr/>
        </p:nvSpPr>
        <p:spPr>
          <a:xfrm>
            <a:off x="2100689" y="8583094"/>
            <a:ext cx="1762300" cy="110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2954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1000" b="1" dirty="0">
                <a:solidFill>
                  <a:schemeClr val="bg1"/>
                </a:solidFill>
                <a:latin typeface="MarkPro-Bold" panose="020B0504020101010102" pitchFamily="34" charset="77"/>
                <a:cs typeface="Times New Roman" panose="02020603050405020304" pitchFamily="18" charset="0"/>
                <a:hlinkClick r:id="rId9"/>
              </a:rPr>
              <a:t>LANGUAGE TRANSLATOR</a:t>
            </a:r>
            <a:endParaRPr lang="en-AU" sz="1000" b="1" dirty="0">
              <a:solidFill>
                <a:schemeClr val="bg1"/>
              </a:solidFill>
              <a:latin typeface="MarkPro-Bold" panose="020B0504020101010102" pitchFamily="34" charset="77"/>
              <a:cs typeface="Times New Roman" panose="02020603050405020304" pitchFamily="18" charset="0"/>
            </a:endParaRPr>
          </a:p>
          <a:p>
            <a:pPr defTabSz="82954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latin typeface="MarkPro" panose="020B0504020101010102" pitchFamily="34" charset="0"/>
              </a:rPr>
              <a:t>A JavaScript tool that converts text to Morse code and back using string manipulation and mapping logic.</a:t>
            </a:r>
            <a:r>
              <a:rPr lang="en-GB" sz="900" dirty="0">
                <a:latin typeface="MarkPro" panose="020B0504020101010102" pitchFamily="34" charset="0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E225B6-C04C-5F7A-0D04-136B953E3E33}"/>
              </a:ext>
            </a:extLst>
          </p:cNvPr>
          <p:cNvSpPr txBox="1"/>
          <p:nvPr/>
        </p:nvSpPr>
        <p:spPr>
          <a:xfrm>
            <a:off x="191731" y="4296919"/>
            <a:ext cx="26941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9"/>
              </a:spcAft>
            </a:pPr>
            <a:r>
              <a:rPr lang="en-GB" sz="1200" b="1" dirty="0">
                <a:solidFill>
                  <a:schemeClr val="bg1"/>
                </a:solidFill>
                <a:latin typeface="MarkPro-Bold" panose="020B0504020101010102" pitchFamily="34" charset="77"/>
                <a:ea typeface="Times New Roman" panose="02020603050405020304" pitchFamily="18" charset="0"/>
              </a:rPr>
              <a:t>WORK EXPERIENCE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8ACFF8-FA5B-9D67-F0DC-1602F7B06012}"/>
              </a:ext>
            </a:extLst>
          </p:cNvPr>
          <p:cNvSpPr txBox="1">
            <a:spLocks/>
          </p:cNvSpPr>
          <p:nvPr/>
        </p:nvSpPr>
        <p:spPr>
          <a:xfrm>
            <a:off x="129196" y="8649117"/>
            <a:ext cx="186467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2954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1000" b="1" dirty="0">
                <a:solidFill>
                  <a:schemeClr val="bg1"/>
                </a:solidFill>
                <a:latin typeface="MarkPro-Bold" panose="020B0504020101010102" pitchFamily="34" charset="77"/>
                <a:cs typeface="Times New Roman" panose="02020603050405020304" pitchFamily="18" charset="0"/>
                <a:hlinkClick r:id="rId10"/>
              </a:rPr>
              <a:t>GOOGLE BOOKS API</a:t>
            </a:r>
            <a:endParaRPr lang="en-AU" sz="1000" b="1" dirty="0">
              <a:solidFill>
                <a:schemeClr val="bg1"/>
              </a:solidFill>
              <a:latin typeface="MarkPro-Bold" panose="020B0504020101010102" pitchFamily="34" charset="77"/>
              <a:cs typeface="Times New Roman" panose="02020603050405020304" pitchFamily="18" charset="0"/>
            </a:endParaRPr>
          </a:p>
          <a:p>
            <a:pPr defTabSz="82954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latin typeface="MarkPro" panose="020B0504020101010102" pitchFamily="34" charset="0"/>
              </a:rPr>
              <a:t>A React app that integrates with the Google Books API to allow users to search, filter, and explore book information dynamically.</a:t>
            </a:r>
            <a:endParaRPr lang="en-GB" sz="900" dirty="0">
              <a:latin typeface="MarkPro" panose="020B0504020101010102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6C59EF-5910-412A-37E6-BF82B872CB6F}"/>
              </a:ext>
            </a:extLst>
          </p:cNvPr>
          <p:cNvSpPr txBox="1">
            <a:spLocks/>
          </p:cNvSpPr>
          <p:nvPr/>
        </p:nvSpPr>
        <p:spPr>
          <a:xfrm>
            <a:off x="129196" y="6966939"/>
            <a:ext cx="3881093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29544" eaLnBrk="0" fontAlgn="base" hangingPunct="0">
              <a:spcBef>
                <a:spcPct val="0"/>
              </a:spcBef>
              <a:spcAft>
                <a:spcPts val="300"/>
              </a:spcAft>
            </a:pPr>
            <a:r>
              <a:rPr lang="en-AU" sz="1050" b="1" dirty="0">
                <a:solidFill>
                  <a:schemeClr val="bg1"/>
                </a:solidFill>
                <a:latin typeface="MarkPro-Bold" panose="020B0504020101010102" pitchFamily="34" charset="77"/>
                <a:cs typeface="Times New Roman" panose="02020603050405020304" pitchFamily="18" charset="0"/>
              </a:rPr>
              <a:t>_nology </a:t>
            </a:r>
            <a:r>
              <a:rPr lang="en-AU" sz="1050" dirty="0">
                <a:solidFill>
                  <a:srgbClr val="0F2B5D"/>
                </a:solidFill>
                <a:latin typeface="MarkPro-Bold" panose="020B0804020101010102" pitchFamily="34" charset="0"/>
                <a:cs typeface="Times New Roman" panose="02020603050405020304" pitchFamily="18" charset="0"/>
              </a:rPr>
              <a:t>| 2025 – CURRENT</a:t>
            </a:r>
          </a:p>
          <a:p>
            <a:pPr marL="171450" indent="-171450" defTabSz="82954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rkPro" panose="020B0504020101010102" pitchFamily="34" charset="0"/>
              </a:rPr>
              <a:t>Building responsive web applications using </a:t>
            </a:r>
            <a:r>
              <a:rPr lang="en-US" sz="900" b="1" dirty="0">
                <a:latin typeface="MarkPro" panose="020B0504020101010102" pitchFamily="34" charset="0"/>
              </a:rPr>
              <a:t>HTML, CSS/SCSS, JavaScript, and React</a:t>
            </a:r>
            <a:r>
              <a:rPr lang="en-US" sz="900" dirty="0">
                <a:latin typeface="MarkPro" panose="020B0504020101010102" pitchFamily="34" charset="0"/>
              </a:rPr>
              <a:t>, with a strong focus on clean code and best practices.</a:t>
            </a:r>
          </a:p>
          <a:p>
            <a:pPr marL="171450" indent="-171450" defTabSz="82954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rkPro" panose="020B0504020101010102" pitchFamily="34" charset="0"/>
              </a:rPr>
              <a:t>Developing real-world projects (including APIs, interactive apps, and full UI builds) while strengthening foundations in </a:t>
            </a:r>
            <a:r>
              <a:rPr lang="en-US" sz="900" b="1" dirty="0">
                <a:latin typeface="MarkPro" panose="020B0504020101010102" pitchFamily="34" charset="0"/>
              </a:rPr>
              <a:t>problem-solving, Git, and modern development workflows</a:t>
            </a:r>
            <a:r>
              <a:rPr lang="en-US" sz="900" dirty="0">
                <a:latin typeface="MarkPro" panose="020B0504020101010102" pitchFamily="34" charset="0"/>
              </a:rPr>
              <a:t>.</a:t>
            </a:r>
            <a:endParaRPr lang="en-GB" sz="900" dirty="0">
              <a:latin typeface="MarkPro" panose="020B0504020101010102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EBD7B5D-3076-843B-2DD4-AD91FD8F256B}"/>
              </a:ext>
            </a:extLst>
          </p:cNvPr>
          <p:cNvSpPr txBox="1">
            <a:spLocks/>
          </p:cNvSpPr>
          <p:nvPr/>
        </p:nvSpPr>
        <p:spPr>
          <a:xfrm>
            <a:off x="156012" y="4531069"/>
            <a:ext cx="3796359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29544" eaLnBrk="0" fontAlgn="base" hangingPunct="0">
              <a:spcBef>
                <a:spcPct val="0"/>
              </a:spcBef>
              <a:spcAft>
                <a:spcPts val="300"/>
              </a:spcAft>
            </a:pPr>
            <a:r>
              <a:rPr lang="en-AU" sz="1050" b="1" dirty="0">
                <a:solidFill>
                  <a:schemeClr val="bg1"/>
                </a:solidFill>
                <a:latin typeface="MarkPro-Bold" panose="020B0504020101010102" pitchFamily="34" charset="77"/>
                <a:cs typeface="Times New Roman" panose="02020603050405020304" pitchFamily="18" charset="0"/>
              </a:rPr>
              <a:t>Catchpoint Systems </a:t>
            </a:r>
            <a:r>
              <a:rPr lang="en-AU" sz="1050" dirty="0">
                <a:solidFill>
                  <a:srgbClr val="0F2B5D"/>
                </a:solidFill>
                <a:latin typeface="MarkPro-Bold" panose="020B0804020101010102" pitchFamily="34" charset="0"/>
                <a:cs typeface="Times New Roman" panose="02020603050405020304" pitchFamily="18" charset="0"/>
              </a:rPr>
              <a:t>| Performance Specialist  | 2021 – </a:t>
            </a:r>
            <a:r>
              <a:rPr lang="en-AU" sz="900" dirty="0">
                <a:solidFill>
                  <a:srgbClr val="0F2B5D"/>
                </a:solidFill>
                <a:latin typeface="MarkPro-Bold" panose="020B0804020101010102" pitchFamily="34" charset="0"/>
                <a:cs typeface="Times New Roman" panose="02020603050405020304" pitchFamily="18" charset="0"/>
              </a:rPr>
              <a:t>2022</a:t>
            </a:r>
          </a:p>
          <a:p>
            <a:pPr marL="171450" indent="-171450" defTabSz="82954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rkPro" panose="020B0504020101010102" pitchFamily="34" charset="0"/>
              </a:rPr>
              <a:t>Led performance monitoring and incident response for high-traffic events including </a:t>
            </a:r>
            <a:r>
              <a:rPr lang="en-US" sz="900" b="1" dirty="0">
                <a:latin typeface="MarkPro" panose="020B0504020101010102" pitchFamily="34" charset="0"/>
              </a:rPr>
              <a:t>Black Friday</a:t>
            </a:r>
            <a:r>
              <a:rPr lang="en-US" sz="900" dirty="0">
                <a:latin typeface="MarkPro" panose="020B0504020101010102" pitchFamily="34" charset="0"/>
              </a:rPr>
              <a:t> and various </a:t>
            </a:r>
            <a:r>
              <a:rPr lang="en-US" sz="900" b="1" dirty="0">
                <a:latin typeface="MarkPro" panose="020B0504020101010102" pitchFamily="34" charset="0"/>
              </a:rPr>
              <a:t> product launches</a:t>
            </a:r>
            <a:r>
              <a:rPr lang="en-US" sz="900" dirty="0">
                <a:latin typeface="MarkPro" panose="020B0504020101010102" pitchFamily="34" charset="0"/>
              </a:rPr>
              <a:t>, supporting mission-critical enterprise applications.</a:t>
            </a:r>
          </a:p>
          <a:p>
            <a:pPr marL="171450" indent="-171450" defTabSz="82954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rkPro" panose="020B0504020101010102" pitchFamily="34" charset="0"/>
              </a:rPr>
              <a:t>Owned key customer accounts,  diagnosing complex performance issues through log analysis, debugging, and multi-tier system testing.</a:t>
            </a:r>
            <a:endParaRPr lang="en-GB" sz="900" dirty="0">
              <a:solidFill>
                <a:schemeClr val="bg1"/>
              </a:solidFill>
              <a:latin typeface="MarkPro" panose="020B0504020101010102" pitchFamily="34" charset="0"/>
            </a:endParaRPr>
          </a:p>
          <a:p>
            <a:pPr defTabSz="829544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900" dirty="0">
              <a:solidFill>
                <a:schemeClr val="bg1"/>
              </a:solidFill>
              <a:latin typeface="MarkPro" panose="020B0504020101010102" pitchFamily="34" charset="77"/>
            </a:endParaRPr>
          </a:p>
          <a:p>
            <a:pPr defTabSz="82954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1050" b="1" dirty="0">
                <a:solidFill>
                  <a:schemeClr val="bg1"/>
                </a:solidFill>
                <a:latin typeface="MarkPro-Bold" panose="020B0504020101010102" pitchFamily="34" charset="77"/>
                <a:cs typeface="Times New Roman" panose="02020603050405020304" pitchFamily="18" charset="0"/>
              </a:rPr>
              <a:t>Catchpoint Systems </a:t>
            </a:r>
            <a:r>
              <a:rPr lang="en-AU" sz="900" dirty="0">
                <a:solidFill>
                  <a:srgbClr val="0F2B5D"/>
                </a:solidFill>
                <a:latin typeface="MarkPro-Bold" panose="020B0804020101010102" pitchFamily="34" charset="0"/>
                <a:cs typeface="Times New Roman" panose="02020603050405020304" pitchFamily="18" charset="0"/>
              </a:rPr>
              <a:t>| </a:t>
            </a:r>
            <a:r>
              <a:rPr lang="en-AU" sz="1050" dirty="0">
                <a:solidFill>
                  <a:srgbClr val="0F2B5D"/>
                </a:solidFill>
                <a:latin typeface="MarkPro-Bold" panose="020B0804020101010102" pitchFamily="34" charset="0"/>
                <a:cs typeface="Times New Roman" panose="02020603050405020304" pitchFamily="18" charset="0"/>
              </a:rPr>
              <a:t>Associate Performance Specialist  </a:t>
            </a:r>
            <a:r>
              <a:rPr lang="en-AU" sz="900" dirty="0">
                <a:solidFill>
                  <a:srgbClr val="0F2B5D"/>
                </a:solidFill>
                <a:latin typeface="MarkPro-Bold" panose="020B0804020101010102" pitchFamily="34" charset="0"/>
                <a:cs typeface="Times New Roman" panose="02020603050405020304" pitchFamily="18" charset="0"/>
              </a:rPr>
              <a:t>| </a:t>
            </a:r>
            <a:r>
              <a:rPr lang="en-AU" sz="1050" dirty="0">
                <a:solidFill>
                  <a:srgbClr val="0F2B5D"/>
                </a:solidFill>
                <a:latin typeface="MarkPro-Bold" panose="020B0804020101010102" pitchFamily="34" charset="0"/>
                <a:cs typeface="Times New Roman" panose="02020603050405020304" pitchFamily="18" charset="0"/>
              </a:rPr>
              <a:t>2022  -2023</a:t>
            </a:r>
          </a:p>
          <a:p>
            <a:pPr marL="171450" indent="-171450" defTabSz="82954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rkPro" panose="020B0504020101010102" pitchFamily="34" charset="0"/>
              </a:rPr>
              <a:t>Delivered </a:t>
            </a:r>
            <a:r>
              <a:rPr lang="en-US" sz="900" b="1" dirty="0">
                <a:latin typeface="MarkPro" panose="020B0504020101010102" pitchFamily="34" charset="0"/>
              </a:rPr>
              <a:t>proactive monitoring, testing, and performance analysis</a:t>
            </a:r>
            <a:r>
              <a:rPr lang="en-US" sz="900" dirty="0">
                <a:latin typeface="MarkPro" panose="020B0504020101010102" pitchFamily="34" charset="0"/>
              </a:rPr>
              <a:t> to identify risks and prevent production issues across client systems.</a:t>
            </a:r>
          </a:p>
          <a:p>
            <a:pPr marL="171450" indent="-171450" defTabSz="82954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MarkPro" panose="020B0504020101010102" pitchFamily="34" charset="0"/>
              </a:rPr>
              <a:t>Demonstrated strong technical growth and impact, earning a </a:t>
            </a:r>
            <a:r>
              <a:rPr lang="en-US" sz="900" b="1" dirty="0">
                <a:latin typeface="MarkPro" panose="020B0504020101010102" pitchFamily="34" charset="0"/>
              </a:rPr>
              <a:t>promotion within the first year</a:t>
            </a:r>
            <a:r>
              <a:rPr lang="en-US" sz="900" dirty="0">
                <a:latin typeface="MarkPro" panose="020B0504020101010102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B9012-3B91-4B21-FE14-D87398F7E857}"/>
              </a:ext>
            </a:extLst>
          </p:cNvPr>
          <p:cNvSpPr txBox="1"/>
          <p:nvPr/>
        </p:nvSpPr>
        <p:spPr>
          <a:xfrm>
            <a:off x="4216119" y="8805126"/>
            <a:ext cx="2532586" cy="110055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rgbClr val="0F2B5D"/>
                </a:solidFill>
                <a:effectLst/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SQL, MySQL</a:t>
            </a: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rgbClr val="0F2B5D"/>
                </a:solidFill>
                <a:effectLst/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AWS</a:t>
            </a: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rgbClr val="0F2B5D"/>
                </a:solidFill>
                <a:effectLst/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Java </a:t>
            </a:r>
            <a:endParaRPr lang="en-GB" sz="900" dirty="0">
              <a:solidFill>
                <a:srgbClr val="0F2B5D"/>
              </a:solidFill>
              <a:latin typeface="MarkPro" panose="020B0504020101010102" pitchFamily="34" charset="0"/>
              <a:ea typeface="Times New Roman" panose="02020603050405020304" pitchFamily="18" charset="0"/>
              <a:cs typeface="Clear Sans Regular" panose="020B060402020202020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rgbClr val="0F2B5D"/>
                </a:solidFill>
                <a:effectLst/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CSS</a:t>
            </a:r>
          </a:p>
          <a:p>
            <a:pPr>
              <a:spcBef>
                <a:spcPct val="0"/>
              </a:spcBef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2B5D"/>
                </a:solidFill>
                <a:effectLst/>
                <a:uLnTx/>
                <a:uFillTx/>
                <a:latin typeface="MarkPro" panose="020B0504020101010102" pitchFamily="34" charset="77"/>
                <a:ea typeface="+mn-ea"/>
                <a:cs typeface="Clear Sans Regular" panose="020B0604020202020204" charset="0"/>
              </a:rPr>
              <a:t>React &amp; Node.js</a:t>
            </a:r>
          </a:p>
          <a:p>
            <a:pPr>
              <a:spcBef>
                <a:spcPct val="0"/>
              </a:spcBef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2B5D"/>
                </a:solidFill>
                <a:effectLst/>
                <a:uLnTx/>
                <a:uFillTx/>
                <a:latin typeface="MarkPro" panose="020B0504020101010102" pitchFamily="34" charset="77"/>
                <a:ea typeface="+mn-ea"/>
                <a:cs typeface="Clear Sans Regular" panose="020B0604020202020204" charset="0"/>
              </a:rPr>
              <a:t>HTML/SASS</a:t>
            </a:r>
          </a:p>
          <a:p>
            <a:pPr>
              <a:spcBef>
                <a:spcPct val="0"/>
              </a:spcBef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2B5D"/>
                </a:solidFill>
                <a:effectLst/>
                <a:uLnTx/>
                <a:uFillTx/>
                <a:latin typeface="MarkPro" panose="020B0504020101010102" pitchFamily="34" charset="77"/>
                <a:ea typeface="+mn-ea"/>
                <a:cs typeface="Clear Sans Regular" panose="020B0604020202020204" charset="0"/>
              </a:rPr>
              <a:t>JavaScript</a:t>
            </a:r>
          </a:p>
          <a:p>
            <a:pPr>
              <a:spcBef>
                <a:spcPct val="0"/>
              </a:spcBef>
              <a:defRPr/>
            </a:pPr>
            <a:r>
              <a:rPr lang="en-US" sz="900" dirty="0">
                <a:solidFill>
                  <a:srgbClr val="0F2B5D"/>
                </a:solidFill>
                <a:latin typeface="MarkPro" panose="020B0504020101010102" pitchFamily="34" charset="77"/>
                <a:cs typeface="Clear Sans Regular" panose="020B0604020202020204" charset="0"/>
              </a:rPr>
              <a:t>Salesforce</a:t>
            </a:r>
          </a:p>
          <a:p>
            <a:pPr>
              <a:spcBef>
                <a:spcPct val="0"/>
              </a:spcBef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2B5D"/>
                </a:solidFill>
                <a:effectLst/>
                <a:uLnTx/>
                <a:uFillTx/>
                <a:latin typeface="MarkPro" panose="020B0504020101010102" pitchFamily="34" charset="77"/>
                <a:ea typeface="+mn-ea"/>
                <a:cs typeface="Clear Sans Regular" panose="020B0604020202020204" charset="0"/>
              </a:rPr>
              <a:t>Jira</a:t>
            </a:r>
          </a:p>
          <a:p>
            <a:pPr>
              <a:spcBef>
                <a:spcPct val="0"/>
              </a:spcBef>
              <a:defRPr/>
            </a:pPr>
            <a:r>
              <a:rPr lang="en-US" sz="900" dirty="0">
                <a:solidFill>
                  <a:srgbClr val="0F2B5D"/>
                </a:solidFill>
                <a:latin typeface="MarkPro" panose="020B0504020101010102" pitchFamily="34" charset="77"/>
                <a:cs typeface="Clear Sans Regular" panose="020B0604020202020204" charset="0"/>
              </a:rPr>
              <a:t>Selenium</a:t>
            </a:r>
          </a:p>
          <a:p>
            <a:pPr>
              <a:spcBef>
                <a:spcPct val="0"/>
              </a:spcBef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2B5D"/>
                </a:solidFill>
                <a:effectLst/>
                <a:uLnTx/>
                <a:uFillTx/>
                <a:latin typeface="MarkPro" panose="020B0504020101010102" pitchFamily="34" charset="77"/>
                <a:ea typeface="+mn-ea"/>
                <a:cs typeface="Clear Sans Regular" panose="020B0604020202020204" charset="0"/>
              </a:rPr>
              <a:t>TCP/IP</a:t>
            </a:r>
          </a:p>
          <a:p>
            <a:pPr>
              <a:spcBef>
                <a:spcPct val="0"/>
              </a:spcBef>
              <a:defRPr/>
            </a:pPr>
            <a:r>
              <a:rPr lang="en-US" sz="900" dirty="0">
                <a:solidFill>
                  <a:srgbClr val="0F2B5D"/>
                </a:solidFill>
                <a:latin typeface="MarkPro" panose="020B0504020101010102" pitchFamily="34" charset="77"/>
                <a:cs typeface="Clear Sans Regular" panose="020B0604020202020204" charset="0"/>
              </a:rPr>
              <a:t>Content Delivery Networks (CDN)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2B5D"/>
                </a:solidFill>
                <a:effectLst/>
                <a:uLnTx/>
                <a:uFillTx/>
                <a:latin typeface="MarkPro" panose="020B0504020101010102" pitchFamily="34" charset="77"/>
                <a:ea typeface="+mn-ea"/>
                <a:cs typeface="Clear Sans Regular" panose="020B0604020202020204" charset="0"/>
              </a:rPr>
              <a:t> </a:t>
            </a:r>
          </a:p>
          <a:p>
            <a:pPr>
              <a:spcBef>
                <a:spcPct val="0"/>
              </a:spcBef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F2B5D"/>
              </a:solidFill>
              <a:effectLst/>
              <a:uLnTx/>
              <a:uFillTx/>
              <a:latin typeface="MarkPro" panose="020B0504020101010102" pitchFamily="34" charset="77"/>
              <a:ea typeface="+mn-ea"/>
              <a:cs typeface="Clear Sans Regular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A46BA-F05C-03B1-361C-95CFC49CE5FC}"/>
              </a:ext>
            </a:extLst>
          </p:cNvPr>
          <p:cNvSpPr txBox="1"/>
          <p:nvPr/>
        </p:nvSpPr>
        <p:spPr>
          <a:xfrm>
            <a:off x="4234386" y="4345489"/>
            <a:ext cx="2614916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MarkPro-Bold" panose="020B0804020101010102" pitchFamily="34" charset="0"/>
                <a:ea typeface="Calibri" panose="020F0502020204030204" pitchFamily="34" charset="0"/>
              </a:rPr>
              <a:t>EDUCATION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6C0BEC-4CCE-3BCA-85F7-1097356735B7}"/>
              </a:ext>
            </a:extLst>
          </p:cNvPr>
          <p:cNvSpPr txBox="1"/>
          <p:nvPr/>
        </p:nvSpPr>
        <p:spPr>
          <a:xfrm>
            <a:off x="4230389" y="4780655"/>
            <a:ext cx="1866519" cy="37939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lvl="0">
              <a:lnSpc>
                <a:spcPct val="107000"/>
              </a:lnSpc>
            </a:pPr>
            <a:r>
              <a:rPr lang="en-GB" sz="900" b="1" dirty="0">
                <a:solidFill>
                  <a:schemeClr val="bg1"/>
                </a:solidFill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Full Stack Engineer Program</a:t>
            </a: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bg1"/>
                </a:solidFill>
                <a:effectLst/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_nology |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56028-EE53-538A-D9B2-41CE232EB7BD}"/>
              </a:ext>
            </a:extLst>
          </p:cNvPr>
          <p:cNvSpPr txBox="1"/>
          <p:nvPr/>
        </p:nvSpPr>
        <p:spPr>
          <a:xfrm>
            <a:off x="4238233" y="5885278"/>
            <a:ext cx="1866519" cy="52758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lvl="0">
              <a:lnSpc>
                <a:spcPct val="107000"/>
              </a:lnSpc>
            </a:pPr>
            <a:r>
              <a:rPr lang="en-GB" sz="900" b="1" dirty="0">
                <a:solidFill>
                  <a:schemeClr val="bg1"/>
                </a:solidFill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AWS Certified Cloud Practitioner</a:t>
            </a: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bg1"/>
                </a:solidFill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AWS</a:t>
            </a:r>
            <a:r>
              <a:rPr lang="en-GB" sz="900" dirty="0">
                <a:solidFill>
                  <a:schemeClr val="bg1"/>
                </a:solidFill>
                <a:effectLst/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 |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99EA56-14B3-2F4E-2831-039AAB4F0235}"/>
              </a:ext>
            </a:extLst>
          </p:cNvPr>
          <p:cNvSpPr txBox="1"/>
          <p:nvPr/>
        </p:nvSpPr>
        <p:spPr>
          <a:xfrm>
            <a:off x="4230389" y="6543185"/>
            <a:ext cx="1866519" cy="67576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lvl="0">
              <a:lnSpc>
                <a:spcPct val="107000"/>
              </a:lnSpc>
            </a:pPr>
            <a:r>
              <a:rPr lang="en-GB" sz="900" b="1" dirty="0">
                <a:solidFill>
                  <a:schemeClr val="bg1"/>
                </a:solidFill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Master of Technology, Computer Science</a:t>
            </a: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bg1"/>
                </a:solidFill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University of Kashmir, India</a:t>
            </a:r>
            <a:r>
              <a:rPr lang="en-GB" sz="900" dirty="0">
                <a:solidFill>
                  <a:schemeClr val="bg1"/>
                </a:solidFill>
                <a:effectLst/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 | 2021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F50786-1F7E-569B-81F2-FBEBE9412DF2}"/>
              </a:ext>
            </a:extLst>
          </p:cNvPr>
          <p:cNvSpPr txBox="1"/>
          <p:nvPr/>
        </p:nvSpPr>
        <p:spPr>
          <a:xfrm>
            <a:off x="4257983" y="7324112"/>
            <a:ext cx="1866519" cy="67576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lvl="0">
              <a:lnSpc>
                <a:spcPct val="107000"/>
              </a:lnSpc>
            </a:pPr>
            <a:r>
              <a:rPr lang="en-GB" sz="900" b="1" dirty="0">
                <a:solidFill>
                  <a:schemeClr val="bg1"/>
                </a:solidFill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Bachelor of Engineering, Computer Science</a:t>
            </a: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bg1"/>
                </a:solidFill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University of Kashmir, India</a:t>
            </a:r>
            <a:r>
              <a:rPr lang="en-GB" sz="900" dirty="0">
                <a:solidFill>
                  <a:schemeClr val="bg1"/>
                </a:solidFill>
                <a:effectLst/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| </a:t>
            </a:r>
            <a:r>
              <a:rPr lang="en-GB" sz="900" dirty="0">
                <a:solidFill>
                  <a:schemeClr val="bg1"/>
                </a:solidFill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2017</a:t>
            </a:r>
            <a:endParaRPr lang="en-GB" sz="900" dirty="0">
              <a:solidFill>
                <a:schemeClr val="bg1"/>
              </a:solidFill>
              <a:effectLst/>
              <a:latin typeface="MarkPro" panose="020B0504020101010102" pitchFamily="34" charset="0"/>
              <a:ea typeface="Times New Roman" panose="02020603050405020304" pitchFamily="18" charset="0"/>
              <a:cs typeface="Clear Sans Regular" panose="020B0604020202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19EF31-551F-3DEB-889E-12095FF227B7}"/>
              </a:ext>
            </a:extLst>
          </p:cNvPr>
          <p:cNvSpPr txBox="1"/>
          <p:nvPr/>
        </p:nvSpPr>
        <p:spPr>
          <a:xfrm>
            <a:off x="4235869" y="5249959"/>
            <a:ext cx="1866519" cy="52758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lvl="0">
              <a:lnSpc>
                <a:spcPct val="107000"/>
              </a:lnSpc>
            </a:pPr>
            <a:r>
              <a:rPr lang="en-GB" sz="900" b="1" dirty="0">
                <a:solidFill>
                  <a:schemeClr val="bg1"/>
                </a:solidFill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AWS Certified Solution Architect, Associate </a:t>
            </a: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bg1"/>
                </a:solidFill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AWS</a:t>
            </a:r>
            <a:r>
              <a:rPr lang="en-GB" sz="900" dirty="0">
                <a:solidFill>
                  <a:schemeClr val="bg1"/>
                </a:solidFill>
                <a:effectLst/>
                <a:latin typeface="MarkPro" panose="020B0504020101010102" pitchFamily="34" charset="0"/>
                <a:ea typeface="Times New Roman" panose="02020603050405020304" pitchFamily="18" charset="0"/>
                <a:cs typeface="Clear Sans Regular" panose="020B0604020202020204" charset="0"/>
              </a:rPr>
              <a:t> | 2025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4F4A4EE-9E2B-94D4-0A43-9A1FA78CB6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17" y="179665"/>
            <a:ext cx="1324740" cy="168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26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072de0-8b4a-4d30-a0e3-e039642f344d">
      <Terms xmlns="http://schemas.microsoft.com/office/infopath/2007/PartnerControls"/>
    </lcf76f155ced4ddcb4097134ff3c332f>
    <TaxCatchAll xmlns="efb3b0fe-71fb-4936-964a-7534fb291978" xsi:nil="true"/>
    <_Flow_SignoffStatus xmlns="da072de0-8b4a-4d30-a0e3-e039642f344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FBCA6B16D37A4AA7DEF8223ACC6E37" ma:contentTypeVersion="19" ma:contentTypeDescription="Create a new document." ma:contentTypeScope="" ma:versionID="00e51c31b9b922d4ede1deb4751e531e">
  <xsd:schema xmlns:xsd="http://www.w3.org/2001/XMLSchema" xmlns:xs="http://www.w3.org/2001/XMLSchema" xmlns:p="http://schemas.microsoft.com/office/2006/metadata/properties" xmlns:ns2="da072de0-8b4a-4d30-a0e3-e039642f344d" xmlns:ns3="efb3b0fe-71fb-4936-964a-7534fb291978" targetNamespace="http://schemas.microsoft.com/office/2006/metadata/properties" ma:root="true" ma:fieldsID="859f303faf4a4f42d9639d8f8900f3b9" ns2:_="" ns3:_="">
    <xsd:import namespace="da072de0-8b4a-4d30-a0e3-e039642f344d"/>
    <xsd:import namespace="efb3b0fe-71fb-4936-964a-7534fb2919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072de0-8b4a-4d30-a0e3-e039642f3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11eb22b-7819-4027-9c71-9a99a7af8e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3b0fe-71fb-4936-964a-7534fb29197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d077a54-c524-431c-b489-6f8340ede695}" ma:internalName="TaxCatchAll" ma:showField="CatchAllData" ma:web="efb3b0fe-71fb-4936-964a-7534fb2919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AF6D89-AAFF-4737-B2FD-13B9B94002A2}">
  <ds:schemaRefs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efb3b0fe-71fb-4936-964a-7534fb291978"/>
    <ds:schemaRef ds:uri="http://schemas.microsoft.com/office/infopath/2007/PartnerControls"/>
    <ds:schemaRef ds:uri="http://schemas.openxmlformats.org/package/2006/metadata/core-properties"/>
    <ds:schemaRef ds:uri="da072de0-8b4a-4d30-a0e3-e039642f344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33F94D-06BD-442A-B923-29FFF56972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072de0-8b4a-4d30-a0e3-e039642f344d"/>
    <ds:schemaRef ds:uri="efb3b0fe-71fb-4936-964a-7534fb2919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691B0A6-7AB6-4505-B269-2D2088B90ED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7ee1d93-0caa-4dc5-8eb7-b7a7622c8e65}" enabled="0" method="" siteId="{67ee1d93-0caa-4dc5-8eb7-b7a7622c8e6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3363</TotalTime>
  <Words>405</Words>
  <Application>Microsoft Office PowerPoint</Application>
  <PresentationFormat>A4 Paper (210x297 mm)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MarkPro</vt:lpstr>
      <vt:lpstr>MarkPro-Bold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Khushbu Patel</dc:creator>
  <cp:lastModifiedBy>Sheezan K</cp:lastModifiedBy>
  <cp:revision>29</cp:revision>
  <dcterms:created xsi:type="dcterms:W3CDTF">2022-11-23T09:49:38Z</dcterms:created>
  <dcterms:modified xsi:type="dcterms:W3CDTF">2026-01-15T12:45:11Z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0x01010064FBCA6B16D37A4AA7DEF8223ACC6E37</vt:lpwstr>
  </property>
  <property fmtid="{D5CDD505-2E9C-101B-9397-08002B2CF9AE}" pid="3" name="MediaServiceImageTags">
    <vt:lpwstr/>
  </property>
</Properties>
</file>